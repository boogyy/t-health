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проект называется T-Health. Это приложение объединяет контроль здоровья и социальную платформу. На защите делаем упор на backend: архитектура, безопасность, бизнес-логика, база данных, тестирование и API-контракт.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проекта — создать приложение для контроля здоровья. Мы выделили два направления: личные данные пользователя и социальную часть. В личной части есть тренировки, питание, рецепты и достижения. В социальной — лента, комментарии, сообщества и личные чаты.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— SPA на Vite. Для входа используется Keycloak: Authorization Code Flow с PKCE. После входа frontend отправляет JWT в backend. Spring Boot работает как REST API, проверяет JWT и выполняет бизнес-логику. Данные хранятся в PostgreSQL, схема управляется Flyway, документация — Swagger, интеграционные тесты — Testcontainers.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показываем соответствие обязательному стеку. Backend — Java 17 и Spring Boot 3. Безопасность — Spring Security, Keycloak и JWT. Данные — Spring Data JPA, PostgreSQL и Flyway. Качество — Validation, Swagger, JUnit, Mockito и Testcontainers.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построен по схеме Controller → Service → Repository. Контроллеры отвечают за HTTP и DTO. Сервисы содержат бизнес-логику, проверки владельца, проверку участия в сообществах и транзакции. Репозитории отвечают за доступ к данным. Сквозные компоненты — Spring Security, Validation, mapper-классы и GlobalExceptionHandler.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Авторизация вынесена в Keycloak. Frontend получает JWT и передаёт его в backend. Spring Security проверяет токен и извлекает текущего пользователя. В нашей базе пользователь связывается с claim sub через keycloak_id. Backend stateless, поэтому сессии на сервере не хранятся.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health-модули: тренировки, питание, рецепты и достижения. Для личных данных реализован CRUD с проверкой владельца. В питании есть дневная агрегация калорий и БЖУ. Достижения выдаются автоматически за действия и не могут выдаваться повторно.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Лента построена на единой сущности Post. Тип поста определяет связанный контент: текст, тренировка, рецепт или достижение. Поддержана публикация существующей сущности или создание сущности вместе с постом. Комментарии удаляются с проверкой прав: автор комментария, автор поста или владелец сообщества.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Сообщество создаётся пользователем, который автоматически становится владельцем и участником с ролью OWNER. Связь пользователей и сообществ хранится в community_members. Владелец может изменять и удалять сообщество. Участники могут создавать community-посты и комментировать 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Личные чаты реализованы как диалог двух пользователей. Backend запрещает чат с самим собой, ищет существующий чат для пары и возвращает его вместо создания дубля. Порядок пользователей не важен: чат A-B равен B-A. Читать историю и отправлять сообщения могут только участники.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базы нормализована: отдельные таблицы для пользователей, health-модулей, постов, комментариев, сообществ и чатов. Часть правил закреплена на уровне PostgreSQL: внешние ключи, уникальные ограничения, check constraints и индексы. Hibernate работает в режиме validate, поэтому источником схемы являются Flyway-миграции.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Валидация состоит из нескольких уровней. DTO проверяются через Spring Validation. Далее сервисы проверяют бизнес-условия: владелец ресурса, членство в сообществе, уникальность чата и так далее. Предметные исключения обрабатываются GlobalExceptionHandler и превращаются в единый ErrorResponse.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Тестирование разделено на unit и integration. Unit-тесты проверяют сервисы изолированно через Mockito. Интеграционные тесты поднимают Spring Context и настоящий PostgreSQL через Testcontainers. Запрос проходит через MockMvc, Security, Validation, Controller, Service, Repository и базу. JaCoCo формирует отчёт покрытия.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описывает все REST endpoint’ы по модулям. Для операций указаны DTO, статусы, ошибки и требования к JWT. Помимо Swagger есть отдельный API-контракт в Markdown, который помогает frontend и backend работать по согласованному формату.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функционал — это не набор несвязанных CRUD. Пользователь авторизуется, получает локальный профиль, ведёт тренировки, питание и рецепты, получает достижения, публикует активность в ленту, комментирует, вступает в сообщества и общается в личных чатах. Поверх базовых операций реализованы права доступа, уникальные ограничения, автоматическая выдача достижений и агрегаты по питанию.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мы получили backend, который закрывает требования проекта и подходит для дальнейшего развития. Реализован обязательный стек, модульная архитектура, защита личных ресурсов, ограничения на уровне базы и два уровня тестирования. Спасибо за внимание, готовы показать приложение и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34440" cy="960120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650992"/>
            <a:ext cx="1554480" cy="621792"/>
          </a:xfrm>
          <a:prstGeom prst="roundRect">
            <a:avLst>
              <a:gd name="adj" fmla="val 17647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T-Health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944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</a:rPr>
              <a:t>Backend-платформа для контроля здоровья и общения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730752"/>
            <a:ext cx="2926080" cy="0"/>
          </a:xfrm>
          <a:prstGeom prst="line">
            <a:avLst/>
          </a:prstGeom>
          <a:noFill/>
          <a:ln w="38100">
            <a:solidFill>
              <a:srgbClr val="FFD3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Краснов Андрей · Лазуткин Егор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Java · Spring Boot · PostgreSQL · Keycloak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1143000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12618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JWT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738360" y="1143000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38360" y="12618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REST API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863840" y="1947672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0665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JPA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738360" y="1947672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206654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Flyway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863840" y="2752344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287121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Swagger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738360" y="2752344"/>
            <a:ext cx="1600200" cy="402336"/>
          </a:xfrm>
          <a:prstGeom prst="roundRect">
            <a:avLst>
              <a:gd name="adj" fmla="val 22727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287121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Testcontainers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Цель и идея проекта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Одна платформа: личный health-трекер + социальное взаимодействие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892040" cy="4160520"/>
          </a:xfrm>
          <a:prstGeom prst="roundRect">
            <a:avLst>
              <a:gd name="adj" fmla="val 3516"/>
            </a:avLst>
          </a:prstGeom>
          <a:solidFill>
            <a:srgbClr val="ECFDF3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7A31"/>
                </a:solidFill>
              </a:rPr>
              <a:t>Контроль здоровья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A447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7592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тренировки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871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A447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07592" y="28620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питание и КБЖУ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3401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A447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07592" y="33924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рецепты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A447"/>
                </a:solidFill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07592" y="39227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достижения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1417320"/>
            <a:ext cx="4892040" cy="4160520"/>
          </a:xfrm>
          <a:prstGeom prst="roundRect">
            <a:avLst>
              <a:gd name="adj" fmla="val 351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68D8"/>
                </a:solidFill>
              </a:rPr>
              <a:t>Социальное взаимодействие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67728" y="2340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68D8"/>
                </a:solidFill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96328" y="2331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лента публикаций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67728" y="2871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68D8"/>
                </a:solidFill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96328" y="28620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комментарии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67728" y="3401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68D8"/>
                </a:solidFill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96328" y="33924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сообщества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67728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68D8"/>
                </a:solidFill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96328" y="39227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личные чаты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24144" y="2862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+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2651760" y="5806440"/>
            <a:ext cx="6903720" cy="475488"/>
          </a:xfrm>
          <a:prstGeom prst="roundRect">
            <a:avLst>
              <a:gd name="adj" fmla="val 23077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5943600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T-Health = личные данные + социальная платформа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Общая архитектура системы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Конкретная схема взаимодействия основных компонентов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150876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A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Пользователь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359152"/>
            <a:ext cx="1828800" cy="1234440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Frontend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Vite SPA · JavaScript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1188720"/>
            <a:ext cx="2057400" cy="960120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Keycloak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Identity Provider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3337560"/>
            <a:ext cx="2057400" cy="1051560"/>
          </a:xfrm>
          <a:prstGeom prst="rect">
            <a:avLst/>
          </a:prstGeom>
          <a:solidFill>
            <a:srgbClr val="ECFDF3"/>
          </a:solidFill>
          <a:ln w="15240">
            <a:solidFill>
              <a:srgbClr val="22A44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Spring Boot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REST API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58200" y="2907792"/>
            <a:ext cx="2057400" cy="1234440"/>
          </a:xfrm>
          <a:prstGeom prst="rect">
            <a:avLst/>
          </a:prstGeom>
          <a:solidFill>
            <a:srgbClr val="EFF6FF"/>
          </a:solidFill>
          <a:ln w="15240">
            <a:solidFill>
              <a:srgbClr val="2268D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PostgreSQL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Database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920240" y="3154680"/>
            <a:ext cx="2286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77640" y="2423160"/>
            <a:ext cx="914400" cy="-731520"/>
          </a:xfrm>
          <a:prstGeom prst="line">
            <a:avLst/>
          </a:prstGeom>
          <a:noFill/>
          <a:ln w="19050">
            <a:solidFill>
              <a:srgbClr val="6A36D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520440" y="11430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1. Авторизация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Authorization Code + PKCE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1993392"/>
            <a:ext cx="-914400" cy="795528"/>
          </a:xfrm>
          <a:prstGeom prst="line">
            <a:avLst/>
          </a:prstGeom>
          <a:noFill/>
          <a:ln w="19050">
            <a:solidFill>
              <a:srgbClr val="6A36D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069080" y="2560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36D9"/>
                </a:solidFill>
              </a:rPr>
              <a:t>2. JWT token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3108960"/>
            <a:ext cx="914400" cy="73152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383280" y="4160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7A31"/>
                </a:solidFill>
              </a:rPr>
              <a:t>3. REST API + JWT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67A31"/>
                </a:solidFill>
              </a:rPr>
              <a:t>Authorization: Bearer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3840480"/>
            <a:ext cx="1508760" cy="-27432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78040" y="3310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7A31"/>
                </a:solidFill>
              </a:rPr>
              <a:t>4. JPA / SQL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58200" y="3886200"/>
            <a:ext cx="-1508760" cy="27432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269480" y="4343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5. ResultSet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4160520"/>
            <a:ext cx="-914400" cy="-73152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310128" y="47365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6. JSON response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" y="56235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57424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Docker Compose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9576" y="5925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запуск окружения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794760" y="56235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22776" y="57424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Flyway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22776" y="5925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миграции БД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537960" y="56235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57424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Swagger / OpenAPI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65976" y="5925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контракт API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281160" y="56235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9176" y="57424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Testcontainers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09176" y="5925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интеграционные тесты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Backend-стек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Использован весь обязательный Java-стек практикума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pic>
        <p:nvPicPr>
          <p:cNvPr id="8" name="Image 0" descr="/mnt/data/параметры_системы_бэкенд_безопасность_база_данн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9221" y="1234440"/>
            <a:ext cx="4143077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950208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Backend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Java 17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Spring Boot 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Maven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3529584" y="3950208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Security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Spring Security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OAuth2 Resource Server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Keycloak + JWT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6373368" y="3950208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Database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Spring Data JPA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PostgreSQL 16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Flyway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9217152" y="3950208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Quality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Spring Validation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Swagger/OpenAPI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JUnit 5 · Mockito · Testcontainers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1627632" y="5733288"/>
            <a:ext cx="8961120" cy="438912"/>
          </a:xfrm>
          <a:prstGeom prst="roundRect">
            <a:avLst>
              <a:gd name="adj" fmla="val 20833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27632" y="5870448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Стек закрывает критерии: безопасность, миграции, документация, тестирование и качество кода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backend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Трёхслойная структура и сквозные компоненты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240280" cy="1051560"/>
          </a:xfrm>
          <a:prstGeom prst="rect">
            <a:avLst/>
          </a:prstGeom>
          <a:solidFill>
            <a:srgbClr val="FFF7D6"/>
          </a:solidFill>
          <a:ln w="15240">
            <a:solidFill>
              <a:srgbClr val="F7B500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Controller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HTTP, JWT principal, request/response DTO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17520" y="3273552"/>
            <a:ext cx="5943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11880" y="2743200"/>
            <a:ext cx="2240280" cy="1051560"/>
          </a:xfrm>
          <a:prstGeom prst="rect">
            <a:avLst/>
          </a:prstGeom>
          <a:solidFill>
            <a:srgbClr val="ECFDF3"/>
          </a:solidFill>
          <a:ln w="15240">
            <a:solidFill>
              <a:srgbClr val="22A44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Service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бизнес-правила, права доступа, транзакции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52160" y="3273552"/>
            <a:ext cx="5943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46520" y="2743200"/>
            <a:ext cx="2240280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2268D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Repository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Spring Data JPA, запросы к PostgreSQL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0" y="3273552"/>
            <a:ext cx="5943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81160" y="2743200"/>
            <a:ext cx="2240280" cy="1051560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Database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FK, UNIQUE, CHECK, индексы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508760" y="1417320"/>
            <a:ext cx="9144000" cy="594360"/>
          </a:xfrm>
          <a:prstGeom prst="roundRect">
            <a:avLst>
              <a:gd name="adj" fmla="val 18462"/>
            </a:avLst>
          </a:prstGeom>
          <a:solidFill>
            <a:srgbClr val="FFF7D6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60934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Spring Security + Spring Validation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34640" y="2011680"/>
            <a:ext cx="0" cy="685800"/>
          </a:xfrm>
          <a:prstGeom prst="line">
            <a:avLst/>
          </a:prstGeom>
          <a:noFill/>
          <a:ln w="19050">
            <a:solidFill>
              <a:srgbClr val="F7B50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2011680"/>
            <a:ext cx="0" cy="685800"/>
          </a:xfrm>
          <a:prstGeom prst="line">
            <a:avLst/>
          </a:prstGeom>
          <a:noFill/>
          <a:ln w="19050">
            <a:solidFill>
              <a:srgbClr val="F7B50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08760" y="4617720"/>
            <a:ext cx="91440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480974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DTO · Mapper · GlobalExceptionHandler · @Transactional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28800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B500"/>
                </a:solidFill>
              </a:rPr>
              <a:t>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057400" y="56235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JPA-сущности не возвращаются напрямую через 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B500"/>
                </a:solidFill>
              </a:rPr>
              <a:t>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56235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Бизнес-логика не лежит в контроллерах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Авторизация и пользователи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Keycloak выдаёт JWT, backend проверяет токен и связывает действия с текущим пользователем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Login через Keycloak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88720" y="1728216"/>
            <a:ext cx="11887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JWT access token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63240" y="1728216"/>
            <a:ext cx="11887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Authorization: Bearer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728216"/>
            <a:ext cx="11887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Spring Security проверяет токен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1728216"/>
            <a:ext cx="11887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sub → keycloak_id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0" y="1728216"/>
            <a:ext cx="11887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0" y="1508760"/>
            <a:ext cx="438912" cy="438912"/>
          </a:xfrm>
          <a:prstGeom prst="ellipse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16367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доступ к ресурсу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3218688"/>
            <a:ext cx="3291840" cy="15087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Keycloak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регистрация и вход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JWT содержит sub, email, username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роли в realm_access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4480560" y="3218688"/>
            <a:ext cx="3291840" cy="150876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Spring Security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stateless backend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проверка подписи и срока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маппинг ролей в authorities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8138160" y="3218688"/>
            <a:ext cx="32918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Локальный профиль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создаётся из JWT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keycloak_id = claim sub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все личные данные связаны с user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20240" y="544068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5577840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 не хранит пользовательские HTTP-сессии: каждый запрос подтверждается JWT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Модули контроля здоровья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Личные данные пользователя: тренировки, питание, рецепты и достижения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2606040" cy="182880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Тренировки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CRUD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тип, дата, длительность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калории и публикация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3529584" y="1325880"/>
            <a:ext cx="2606040" cy="182880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Питание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CRUD дневника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калории и БЖУ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сводка за день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373368" y="1325880"/>
            <a:ext cx="2606040" cy="182880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Рецепты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ингредиенты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инструкция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КБЖУ и публикация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217152" y="1325880"/>
            <a:ext cx="2606040" cy="182880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Достижения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автоматическая выдача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защита от дублей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публикация достижения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Личная запись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4279392"/>
            <a:ext cx="1828800" cy="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Бизнес-правило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69480" y="4279392"/>
            <a:ext cx="1737360" cy="0"/>
          </a:xfrm>
          <a:prstGeom prst="line">
            <a:avLst/>
          </a:prstGeom>
          <a:noFill/>
          <a:ln w="19050">
            <a:solidFill>
              <a:srgbClr val="22A44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09828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Публикация или достижение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5266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525780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Пользователь может изменять и удалять только свои личные записи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52669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25780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Достижения выдаются автоматически после значимых действий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Лента постов и комментарии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Единая сущность Post связывает пользовательскую активность с публичной лентой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3794760" cy="443484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</a:rPr>
              <a:t>Post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24128" y="2121408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20370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WORKOUT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221284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Автор · дата · visibility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24128" y="2578608"/>
            <a:ext cx="320040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862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B500"/>
                </a:solidFill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07592" y="28529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связанная сущность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78992" y="3319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B500"/>
                </a:solidFill>
              </a:rPr>
              <a:t>•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07592" y="33101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текст публикации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78992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B500"/>
                </a:solidFill>
              </a:rPr>
              <a:t>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07592" y="37673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</a:rPr>
              <a:t>комментарии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0" y="1325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Типы постов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0" y="18745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9568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568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WORKOUT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38160" y="18745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9568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RECIPE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64040" y="18745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195681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ACHIEVEMENT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2578608"/>
            <a:ext cx="2971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Возможности ленты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• публичные и community-посты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• фильтрация по типу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• публикация существующих сущностей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11111"/>
                </a:solidFill>
              </a:rPr>
              <a:t>• создание сущности вместе с постом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641080" y="2578608"/>
            <a:ext cx="269748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Комментарии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создание и получение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удаление по правам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403/404 вместо 500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2011680" y="59893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Workout / Recipe / Achievement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6053328"/>
            <a:ext cx="10058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504688" y="5989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Post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6053328"/>
            <a:ext cx="9601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296912" y="59893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Feed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92440" y="6053328"/>
            <a:ext cx="96012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098280" y="59893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</a:rPr>
              <a:t>Comment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Сообщества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Тематические группы с участниками, ролями и публикациями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2880360" cy="2880360"/>
          </a:xfrm>
          <a:prstGeom prst="ellipse">
            <a:avLst/>
          </a:prstGeom>
          <a:solidFill>
            <a:srgbClr val="FFF7D6"/>
          </a:solidFill>
          <a:ln w="19050">
            <a:solidFill>
              <a:srgbClr val="F7B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063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Community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31720" y="1170432"/>
            <a:ext cx="1325880" cy="566928"/>
          </a:xfrm>
          <a:prstGeom prst="rect">
            <a:avLst/>
          </a:prstGeom>
          <a:solidFill>
            <a:srgbClr val="FFD334"/>
          </a:solidFill>
          <a:ln w="15240">
            <a:solidFill>
              <a:srgbClr val="FFD334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OWNER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3880" y="1243584"/>
            <a:ext cx="1325880" cy="566928"/>
          </a:xfrm>
          <a:prstGeom prst="rect">
            <a:avLst/>
          </a:prstGeom>
          <a:solidFill>
            <a:srgbClr val="BBF7D0"/>
          </a:solidFill>
          <a:ln w="15240">
            <a:solidFill>
              <a:srgbClr val="BBF7D0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MEMBER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31720" y="4983480"/>
            <a:ext cx="1325880" cy="566928"/>
          </a:xfrm>
          <a:prstGeom prst="rect">
            <a:avLst/>
          </a:prstGeom>
          <a:solidFill>
            <a:srgbClr val="BBF7D0"/>
          </a:solidFill>
          <a:ln w="15240">
            <a:solidFill>
              <a:srgbClr val="BBF7D0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MEMBER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4892040"/>
            <a:ext cx="1325880" cy="566928"/>
          </a:xfrm>
          <a:prstGeom prst="rect">
            <a:avLst/>
          </a:prstGeom>
          <a:solidFill>
            <a:srgbClr val="BBF7D0"/>
          </a:solidFill>
          <a:ln w="15240">
            <a:solidFill>
              <a:srgbClr val="BBF7D0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MEMBER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2057400" cy="160020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OWNER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update/delete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управляет сообществом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может удалять комментарии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464040" y="2148840"/>
            <a:ext cx="2057400" cy="160020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MEMBER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join/leave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создаёт посты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комментирует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874520" y="5715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5815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Create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5888736"/>
            <a:ext cx="3657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11880" y="5715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5815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Join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5888736"/>
            <a:ext cx="3657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49240" y="5715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5815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Publish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5888736"/>
            <a:ext cx="3657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5715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5815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Comment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12480" y="5888736"/>
            <a:ext cx="36576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23960" y="571500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581558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Leave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Личные чаты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Один чат на неупорядоченную пару пользователей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1645920" cy="777240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User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148840"/>
            <a:ext cx="25603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D5DA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DirectChat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A ↔ 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18320" y="2423160"/>
            <a:ext cx="1645920" cy="777240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User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88920" y="2816352"/>
            <a:ext cx="2011680" cy="-54864"/>
          </a:xfrm>
          <a:prstGeom prst="line">
            <a:avLst/>
          </a:prstGeom>
          <a:noFill/>
          <a:ln w="19050">
            <a:solidFill>
              <a:srgbClr val="6A36D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2761488"/>
            <a:ext cx="2057400" cy="54864"/>
          </a:xfrm>
          <a:prstGeom prst="line">
            <a:avLst/>
          </a:prstGeom>
          <a:noFill/>
          <a:ln w="19050">
            <a:solidFill>
              <a:srgbClr val="6A36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3931920"/>
            <a:ext cx="3611880" cy="475488"/>
          </a:xfrm>
          <a:prstGeom prst="roundRect">
            <a:avLst>
              <a:gd name="adj" fmla="val 19231"/>
            </a:avLst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4078224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74151"/>
                </a:solidFill>
              </a:rPr>
              <a:t>DirectMessage: sender · content · sentAt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3200400" cy="11430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Правила создания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нельзя создать чат с собой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если чат уже есть — возвращаем его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526280" y="4846320"/>
            <a:ext cx="3063240" cy="114300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Уникальность пары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Chat(A,B) = Chat(B,A)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</a:rPr>
              <a:t>• unique index через LEAST/GREATEST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138160" y="4846320"/>
            <a:ext cx="324612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Доступ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• читать и писать могут только участники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• в списке чатов есть последнее сообщение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Модель базы данных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Нормализованная схема, ограничения целостности и индексы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2926080" cy="105156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Пользователи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users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user_achievements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926080" cy="146304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Здоровье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workouts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food_entries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recipes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achievements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292608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Социальная часть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posts, comments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communities, members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direct_chats, messages</a:t>
            </a:r>
            <a:endParaRPr lang="en-US" sz="1220" dirty="0"/>
          </a:p>
        </p:txBody>
      </p:sp>
      <p:pic>
        <p:nvPicPr>
          <p:cNvPr id="11" name="Image 0" descr="/mnt/data/T-Health-main/docs/er-diagram-final.png">    </p:cNvPr>
          <p:cNvPicPr>
            <a:picLocks noChangeAspect="1"/>
          </p:cNvPicPr>
          <p:nvPr/>
        </p:nvPicPr>
        <p:blipFill>
          <a:blip r:embed="rId1"/>
          <a:srcRect l="50000" r="-23112" t="50000" b="-15000"/>
          <a:stretch/>
        </p:blipFill>
        <p:spPr>
          <a:xfrm>
            <a:off x="3886200" y="1143000"/>
            <a:ext cx="7635240" cy="4572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86200" y="5897880"/>
            <a:ext cx="7635240" cy="384048"/>
          </a:xfrm>
          <a:prstGeom prst="roundRect">
            <a:avLst>
              <a:gd name="adj" fmla="val 1904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6016752"/>
            <a:ext cx="7635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Целостность: FOREIGN KEY · UNIQUE · CHECK · INDEX · UUID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Валидация и обработка ошибок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Ожидаемые ошибки пользователя не превращаются в HTTP 500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4173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D5DAE1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Request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40280" y="2660904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51760" y="2331720"/>
            <a:ext cx="1417320" cy="658368"/>
          </a:xfrm>
          <a:prstGeom prst="rect">
            <a:avLst/>
          </a:prstGeom>
          <a:solidFill>
            <a:srgbClr val="FFF7D6"/>
          </a:solidFill>
          <a:ln w="15240">
            <a:solidFill>
              <a:srgbClr val="F7B500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Spring Validation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9080" y="2660904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480560" y="2331720"/>
            <a:ext cx="1417320" cy="658368"/>
          </a:xfrm>
          <a:prstGeom prst="rect">
            <a:avLst/>
          </a:prstGeom>
          <a:solidFill>
            <a:srgbClr val="ECFDF3"/>
          </a:solidFill>
          <a:ln w="15240">
            <a:solidFill>
              <a:srgbClr val="22A44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Business checks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97880" y="2660904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2331720"/>
            <a:ext cx="1417320" cy="658368"/>
          </a:xfrm>
          <a:prstGeom prst="rect">
            <a:avLst/>
          </a:prstGeom>
          <a:solidFill>
            <a:srgbClr val="FFF1F2"/>
          </a:solidFill>
          <a:ln w="15240">
            <a:solidFill>
              <a:srgbClr val="D93025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Domain exception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26680" y="2660904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138160" y="2331720"/>
            <a:ext cx="1417320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268D8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GlobalExceptionHandler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55480" y="2660904"/>
            <a:ext cx="32004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966960" y="2331720"/>
            <a:ext cx="1417320" cy="658368"/>
          </a:xfrm>
          <a:prstGeom prst="rect">
            <a:avLst/>
          </a:prstGeom>
          <a:solidFill>
            <a:srgbClr val="F5F3FF"/>
          </a:solidFill>
          <a:ln w="15240">
            <a:solidFill>
              <a:srgbClr val="6A36D9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ErrorResponse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" y="402336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441655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некорректный запрос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402336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401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200400" y="441655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нет авторизации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402336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403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40680" y="441655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нет прав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80960" y="402336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404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680960" y="441655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не найдено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921240" y="4023360"/>
            <a:ext cx="1691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409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921240" y="441655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конфликт данных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60120" y="53126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5303520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Проверки владельца ресурса, участия в сообществе и уникальности сущностей находятся в service-слое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56784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5669280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GlobalExceptionHandler возвращает единый ErrorResponse и корректный HTTP-статус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Тестирование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Unit + integration: бизнес-логика и полный путь HTTP-запроса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07492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Unit-тесты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A447"/>
                </a:solidFill>
              </a:rPr>
              <a:t>56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31720" y="2267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@Test в service-тестах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9077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сервисы проверяются изолированно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284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репозитории и клиенты — Mockito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581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B500"/>
                </a:solidFill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49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проверяются бизнес-правила и ошибки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17320" y="4480560"/>
            <a:ext cx="3566160" cy="438912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617720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7A31"/>
                </a:solidFill>
              </a:rPr>
              <a:t>Service → Mock Repository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234440"/>
            <a:ext cx="507492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Integration-тесты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68D8"/>
                </a:solidFill>
              </a:rPr>
              <a:t>42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882128" y="2267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@Test в controller 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68D8"/>
                </a:solidFill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29077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MockMvc → Security → Controller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3375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68D8"/>
                </a:solidFill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3284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Service → Repository → PostgreSQL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7581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68D8"/>
                </a:solidFill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3749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Testcontainers поднимает реальную БД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448056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617720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68D8"/>
                </a:solidFill>
              </a:rPr>
              <a:t>Flyway + PostgreSQL Testcontainers + JaCoCo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Swagger и API-контракт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Документация endpoint’ов и единый контракт для frontend/backend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81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Swagger UI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4128" y="2057400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13055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Users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66160" y="213055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/api/users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24128" y="2441448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514600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Workouts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/api/workouts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24128" y="2825496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89864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Food Entries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0" y="289864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/api/food-entries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24128" y="3209544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282696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Recipes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66160" y="328269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/api/recipes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24128" y="3593592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666744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Achievements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66160" y="3666744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/api/achievements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24128" y="3977640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05079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Posts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66160" y="405079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/api/posts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24128" y="4361688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4434840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Comments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66160" y="4434840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/api/comments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24128" y="4745736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481888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Communities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66160" y="4818888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/api/communities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24128" y="5129784"/>
            <a:ext cx="4919472" cy="274320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solidFill>
              <a:srgbClr val="E5E7E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5202936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Direct Chats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66160" y="5202936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/api/direct-chats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1325880"/>
            <a:ext cx="4754880" cy="118872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Что документируется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методы и URL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request/response DTO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коды ответов и ошибки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6675120" y="2788920"/>
            <a:ext cx="4754880" cy="118872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Безопасность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JWT Bearer Authentication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кнопка Authorize в Swagger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защищённые endpoint’ы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6675120" y="4251960"/>
            <a:ext cx="47548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Контракт с frontend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docs/api-contract.md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enum-значения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</a:rPr>
              <a:t>• единый ErrorResponse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Полный реализованный функционал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Не только CRUD: связанные сценарии, права доступа и автоматизация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34440"/>
            <a:ext cx="118872" cy="932688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4173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Профиль и безопасность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41832" y="170992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JWT · Keycloak · профиль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234440"/>
            <a:ext cx="118872" cy="932688"/>
          </a:xfrm>
          <a:prstGeom prst="rect">
            <a:avLst/>
          </a:prstGeom>
          <a:solidFill>
            <a:srgbClr val="22A447"/>
          </a:solidFill>
          <a:ln w="12700">
            <a:solidFill>
              <a:srgbClr val="22A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4173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Тренировки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736592" y="170992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CRUD · калории · публикация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275320" y="1234440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234440"/>
            <a:ext cx="118872" cy="932688"/>
          </a:xfrm>
          <a:prstGeom prst="rect">
            <a:avLst/>
          </a:prstGeom>
          <a:solidFill>
            <a:srgbClr val="2268D8"/>
          </a:solidFill>
          <a:ln w="12700">
            <a:solidFill>
              <a:srgbClr val="226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4173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Питание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531352" y="170992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CRUD · дневная сводка КБЖУ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85800" y="2532888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532888"/>
            <a:ext cx="118872" cy="932688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7157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Рецепты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41832" y="300837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ингредиенты · КБЖУ · публикация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480560" y="2532888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532888"/>
            <a:ext cx="118872" cy="932688"/>
          </a:xfrm>
          <a:prstGeom prst="rect">
            <a:avLst/>
          </a:prstGeom>
          <a:solidFill>
            <a:srgbClr val="22A447"/>
          </a:solidFill>
          <a:ln w="12700">
            <a:solidFill>
              <a:srgbClr val="22A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157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Достижения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736592" y="300837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автовыдача · уникальность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275320" y="2532888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532888"/>
            <a:ext cx="118872" cy="932688"/>
          </a:xfrm>
          <a:prstGeom prst="rect">
            <a:avLst/>
          </a:prstGeom>
          <a:solidFill>
            <a:srgbClr val="2268D8"/>
          </a:solidFill>
          <a:ln w="12700">
            <a:solidFill>
              <a:srgbClr val="226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27157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Публичная лента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531352" y="300837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4 типа постов · фильтрация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85800" y="3831336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3831336"/>
            <a:ext cx="118872" cy="932688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40142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Комментарии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41832" y="430682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создание · удаление по правам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4480560" y="3831336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3831336"/>
            <a:ext cx="118872" cy="932688"/>
          </a:xfrm>
          <a:prstGeom prst="rect">
            <a:avLst/>
          </a:prstGeom>
          <a:solidFill>
            <a:srgbClr val="22A447"/>
          </a:solidFill>
          <a:ln w="12700">
            <a:solidFill>
              <a:srgbClr val="22A4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40142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Сообщества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4736592" y="430682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роли · участники · посты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275320" y="3831336"/>
            <a:ext cx="33375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831336"/>
            <a:ext cx="118872" cy="932688"/>
          </a:xfrm>
          <a:prstGeom prst="rect">
            <a:avLst/>
          </a:prstGeom>
          <a:solidFill>
            <a:srgbClr val="2268D8"/>
          </a:solidFill>
          <a:ln w="12700">
            <a:solidFill>
              <a:srgbClr val="226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31352" y="40142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</a:rPr>
              <a:t>Личные чаты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531352" y="430682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1 на 1 · история · последнее сообщение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868680" y="5285232"/>
            <a:ext cx="10469880" cy="621792"/>
          </a:xfrm>
          <a:prstGeom prst="roundRect">
            <a:avLst>
              <a:gd name="adj" fmla="val 1911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5486400"/>
            <a:ext cx="10104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Расширенные сценарии: автоматическое создание профиля, выдача достижений, уникальность публикаций и чатов, проверка владельца и участника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 проекта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Backend готов к демонстрации и дальнейшему развитию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01400" y="20116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FFD334"/>
          </a:solidFill>
          <a:ln w="12700">
            <a:solidFill>
              <a:srgbClr val="FFD3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2834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T-Health · Backend защита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4846320" cy="1097280"/>
          </a:xfrm>
          <a:prstGeom prst="rect">
            <a:avLst/>
          </a:prstGeom>
          <a:solidFill>
            <a:srgbClr val="FFF7D6"/>
          </a:solidFill>
          <a:ln w="12700">
            <a:solidFill>
              <a:srgbClr val="FDE68A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Полноценный backend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• модули здоровья и социальной платформы работают в одной системе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846320" cy="1097280"/>
          </a:xfrm>
          <a:prstGeom prst="rect">
            <a:avLst/>
          </a:prstGeom>
          <a:solidFill>
            <a:srgbClr val="ECFDF3"/>
          </a:solidFill>
          <a:ln w="12700">
            <a:solidFill>
              <a:srgbClr val="BBF7D0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Безопасный REST API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• JWT, проверки владельца, ролей и участия в сообществах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4846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Надёжная работа с данными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• PostgreSQL, миграции, ограничения, индексы и транзакции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234440"/>
            <a:ext cx="4846320" cy="10972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Контроль качества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• Validation, обработка ошибок, Swagger, unit- и integration-тесты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4846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Возможности развития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WebSocket для сообщений в реальном времени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персональные рекомендации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уведомления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• расширенная модерация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5715000"/>
            <a:ext cx="8183880" cy="457200"/>
          </a:xfrm>
          <a:prstGeom prst="roundRect">
            <a:avLst>
              <a:gd name="adj" fmla="val 24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5852160"/>
            <a:ext cx="8183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T-Health — здоровье, активность и общение в одной платформе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T-Health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T-Health — backend-презентация</dc:title>
  <dc:subject>Защита проекта T-Health</dc:subject>
  <dc:creator>OpenAI</dc:creator>
  <cp:lastModifiedBy>OpenAI</cp:lastModifiedBy>
  <cp:revision>1</cp:revision>
  <dcterms:created xsi:type="dcterms:W3CDTF">2026-07-15T18:38:10Z</dcterms:created>
  <dcterms:modified xsi:type="dcterms:W3CDTF">2026-07-15T18:38:10Z</dcterms:modified>
</cp:coreProperties>
</file>